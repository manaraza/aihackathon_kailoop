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6" r:id="rId17"/>
    <p:sldId id="260" r:id="rId6"/>
    <p:sldId id="261" r:id="rId7"/>
    <p:sldId id="262" r:id="rId8"/>
    <p:sldId id="263" r:id="rId9"/>
    <p:sldId id="267" r:id="rId18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  <Relationship Id="rId17" Type="http://schemas.openxmlformats.org/officeDocument/2006/relationships/slide" Target="slides/slide11.xml"/>
  <Relationship Id="rId18" Type="http://schemas.openxmlformats.org/officeDocument/2006/relationships/slide" Target="slides/slide12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255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LOOP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868680" y="32461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 to fork — nothing lost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68680" y="3794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9CD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decision support for New Zealand's food supply chain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5989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Kai Guardian ·  Aotearoa AI Hackathon Festival 2026  ·  Food Waste Challenge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692640" y="822960"/>
            <a:ext cx="320040" cy="320040"/>
          </a:xfrm>
          <a:prstGeom prst="ellipse">
            <a:avLst/>
          </a:prstGeom>
          <a:solidFill>
            <a:srgbClr val="E3A23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149840" y="822960"/>
            <a:ext cx="320040" cy="320040"/>
          </a:xfrm>
          <a:prstGeom prst="ellipse">
            <a:avLst/>
          </a:prstGeom>
          <a:solidFill>
            <a:srgbClr val="4C7A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822960"/>
            <a:ext cx="320040" cy="320040"/>
          </a:xfrm>
          <a:prstGeom prst="ellipse">
            <a:avLst/>
          </a:prstGeom>
          <a:solidFill>
            <a:srgbClr val="8FA396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Farmers make million-dollar sorting decisions by eye — and it's costing New Zealand food and money before waste even has a chance to be rescued.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1F4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22%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waste happens at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production — before it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 leaves the farm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3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8–10%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global emissions come from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— about 4x global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B5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children live in homes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enough food to eat,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good food goes to waste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a bin problem. It's a decision problem — happening today, at the exact moment fruit leaves the ground.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 Hackathon Food Waste Challenge Reference Document (Kai Commitment / Woolworths / KiwiHarvest)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existing solutions don't fix this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05840" y="2194560"/>
            <a:ext cx="10149840" cy="0"/>
          </a:xfrm>
          <a:prstGeom prst="line">
            <a:avLst/>
          </a:prstGeom>
          <a:noFill/>
          <a:ln w="38100">
            <a:solidFill>
              <a:srgbClr val="C9CD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23544" y="2112264"/>
            <a:ext cx="164592" cy="164592"/>
          </a:xfrm>
          <a:prstGeom prst="ellipse">
            <a:avLst/>
          </a:prstGeom>
          <a:solidFill>
            <a:srgbClr val="1F4B3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made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eye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272991" y="2112264"/>
            <a:ext cx="164592" cy="164592"/>
          </a:xfrm>
          <a:prstGeom prst="ellipse">
            <a:avLst/>
          </a:prstGeom>
          <a:solidFill>
            <a:srgbClr val="1F4B3F"/>
          </a:solidFill>
          <a:ln/>
        </p:spPr>
      </p:sp>
      <p:sp>
        <p:nvSpPr>
          <p:cNvPr id="8" name="Text 6"/>
          <p:cNvSpPr/>
          <p:nvPr/>
        </p:nvSpPr>
        <p:spPr>
          <a:xfrm>
            <a:off x="3440887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Surplus exists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40887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rejected, unsold,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over-portioned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622438" y="2112264"/>
            <a:ext cx="164592" cy="164592"/>
          </a:xfrm>
          <a:prstGeom prst="ellipse">
            <a:avLst/>
          </a:prstGeom>
          <a:solidFill>
            <a:srgbClr val="1F4B3F"/>
          </a:solidFill>
          <a:ln/>
        </p:spPr>
      </p:sp>
      <p:sp>
        <p:nvSpPr>
          <p:cNvPr id="11" name="Text 9"/>
          <p:cNvSpPr/>
          <p:nvPr/>
        </p:nvSpPr>
        <p:spPr>
          <a:xfrm>
            <a:off x="6790334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Redistribution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90334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rescue,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073384" y="2112264"/>
            <a:ext cx="164592" cy="164592"/>
          </a:xfrm>
          <a:prstGeom prst="ellipse">
            <a:avLst/>
          </a:prstGeom>
          <a:solidFill>
            <a:srgbClr val="1F4B3F"/>
          </a:solidFill>
          <a:ln/>
        </p:spPr>
      </p:sp>
      <p:sp>
        <p:nvSpPr>
          <p:cNvPr id="14" name="Text 12"/>
          <p:cNvSpPr/>
          <p:nvPr/>
        </p:nvSpPr>
        <p:spPr>
          <a:xfrm>
            <a:off x="10241280" y="23774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Landfill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24128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nobody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acted in time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80967" y="1417320"/>
            <a:ext cx="7349033" cy="457200"/>
          </a:xfrm>
          <a:prstGeom prst="roundRect">
            <a:avLst>
              <a:gd name="adj" fmla="val 16000"/>
            </a:avLst>
          </a:prstGeom>
          <a:solidFill>
            <a:srgbClr val="B5502E">
              <a:alpha val="12000"/>
            </a:srgbClr>
          </a:solidFill>
          <a:ln w="12700">
            <a:solidFill>
              <a:srgbClr val="B5502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26687" y="1463040"/>
            <a:ext cx="725759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Good To Go · Wonky Box · NZ Food Network · EveryBite · EcoStock · The Odd Bunch · Love Food Hate Waste · Simplicity.kiwi · AFRA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3898087" cy="457200"/>
          </a:xfrm>
          <a:prstGeom prst="roundRect">
            <a:avLst>
              <a:gd name="adj" fmla="val 16000"/>
            </a:avLst>
          </a:prstGeom>
          <a:solidFill>
            <a:srgbClr val="1F4B3F">
              <a:alpha val="12000"/>
            </a:srgbClr>
          </a:solidFill>
          <a:ln w="12700">
            <a:solidFill>
              <a:srgbClr val="1F4B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474720"/>
            <a:ext cx="380664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 Loop acts here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663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900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solutions redistribute food </a:t>
            </a:r>
            <a:r>
              <a:rPr lang="en-US" sz="1900" b="1" i="1" dirty="0">
                <a:solidFill>
                  <a:srgbClr val="B5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</a:t>
            </a:r>
            <a:r>
              <a:rPr lang="en-US" sz="1900" dirty="0">
                <a:solidFill>
                  <a:srgbClr val="1426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surplus exists.
Kai Loop prevents surplus from becoming waste </a:t>
            </a:r>
            <a:r>
              <a:rPr lang="en-US" sz="1900" b="1" dirty="0">
                <a:solidFill>
                  <a:srgbClr val="1F4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making smarter routing decisions at the point of harvest.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landscape based on your own supply-chain gap analysis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Kai Loop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of three subscription-based AI modules, one for each stage of the food system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29000" cy="3794760"/>
          </a:xfrm>
          <a:prstGeom prst="roundRect">
            <a:avLst>
              <a:gd name="adj" fmla="val 3200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icons/second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385" y="1981505"/>
            <a:ext cx="608990" cy="60899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14400" y="1874520"/>
            <a:ext cx="822960" cy="822960"/>
          </a:xfrm>
          <a:prstGeom prst="ellipse">
            <a:avLst/>
          </a:prstGeom>
          <a:ln w="25400">
            <a:solidFill>
              <a:srgbClr val="1F4B3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9202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FARM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1920240" y="2167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SecondCrop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growers &amp; pack-houses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14400" y="3108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produce from a photo at harvest — routes each grade to retail, processing, or rescue before waste is possible.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14400" y="48006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1F4B3F">
              <a:alpha val="1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914400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PROTOTYPE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343400" y="1600200"/>
            <a:ext cx="3429000" cy="3794760"/>
          </a:xfrm>
          <a:prstGeom prst="roundRect">
            <a:avLst>
              <a:gd name="adj" fmla="val 3200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18745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1" descr="icons/scrapsen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4705" y="1981505"/>
            <a:ext cx="608990" cy="60899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617720" y="1874520"/>
            <a:ext cx="822960" cy="822960"/>
          </a:xfrm>
          <a:prstGeom prst="ellipse">
            <a:avLst/>
          </a:prstGeom>
          <a:ln w="25400">
            <a:solidFill>
              <a:srgbClr val="E3A23C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62356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KITCHEN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623560" y="2167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ScrapSense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461772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hospitality venues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617720" y="3108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returned-plate photos in hospitality kitchens and flags dishes that are chronically over-portioned.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617720" y="48006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E3A23C">
              <a:alpha val="15000"/>
            </a:srgbClr>
          </a:solidFill>
          <a:ln/>
        </p:spPr>
      </p:sp>
      <p:sp>
        <p:nvSpPr>
          <p:cNvPr id="23" name="Text 19"/>
          <p:cNvSpPr/>
          <p:nvPr/>
        </p:nvSpPr>
        <p:spPr>
          <a:xfrm>
            <a:off x="4617720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PROTOTYPED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8046720" y="1600200"/>
            <a:ext cx="3429000" cy="3794760"/>
          </a:xfrm>
          <a:prstGeom prst="roundRect">
            <a:avLst>
              <a:gd name="adj" fmla="val 3200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2" descr="icons/secondserv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8025" y="1981505"/>
            <a:ext cx="608990" cy="60899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8321040" y="1874520"/>
            <a:ext cx="822960" cy="822960"/>
          </a:xfrm>
          <a:prstGeom prst="ellipse">
            <a:avLst/>
          </a:prstGeom>
          <a:ln w="25400">
            <a:solidFill>
              <a:srgbClr val="4C7A8C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93268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4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9326880" y="2167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Serve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8321040" y="274320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4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Subscription: retailers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8321040" y="310896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retail inventory and catches near-expiry stock while there's still time to markdown or donate it.</a:t>
            </a:r>
            <a:endParaRPr lang="en-US" sz="1250" dirty="0"/>
          </a:p>
        </p:txBody>
      </p:sp>
      <p:sp>
        <p:nvSpPr>
          <p:cNvPr id="32" name="Shape 27"/>
          <p:cNvSpPr/>
          <p:nvPr/>
        </p:nvSpPr>
        <p:spPr>
          <a:xfrm>
            <a:off x="8321040" y="48006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4C7A8C">
              <a:alpha val="15000"/>
            </a:srgbClr>
          </a:solidFill>
          <a:ln/>
        </p:spPr>
      </p:sp>
      <p:sp>
        <p:nvSpPr>
          <p:cNvPr id="33" name="Text 28"/>
          <p:cNvSpPr/>
          <p:nvPr/>
        </p:nvSpPr>
        <p:spPr>
          <a:xfrm>
            <a:off x="8321040" y="4800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PROTOTYPED</a:t>
            </a:r>
            <a:endParaRPr lang="en-US" sz="950" dirty="0"/>
          </a:p>
        </p:txBody>
      </p:sp>
      <p:sp>
        <p:nvSpPr>
          <p:cNvPr id="34" name="Text 29"/>
          <p:cNvSpPr/>
          <p:nvPr/>
        </p:nvSpPr>
        <p:spPr>
          <a:xfrm>
            <a:off x="64008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all three feed surplus into</a:t>
            </a:r>
            <a:endParaRPr lang="en-US" sz="1300" dirty="0"/>
          </a:p>
        </p:txBody>
      </p:sp>
      <p:sp>
        <p:nvSpPr>
          <p:cNvPr id="35" name="Shape 30"/>
          <p:cNvSpPr/>
          <p:nvPr/>
        </p:nvSpPr>
        <p:spPr>
          <a:xfrm>
            <a:off x="5394960" y="5943600"/>
            <a:ext cx="457200" cy="457200"/>
          </a:xfrm>
          <a:prstGeom prst="ellipse">
            <a:avLst/>
          </a:prstGeom>
          <a:solidFill>
            <a:srgbClr val="FCEDE7"/>
          </a:solidFill>
          <a:ln/>
        </p:spPr>
      </p:sp>
      <p:pic>
        <p:nvPicPr>
          <p:cNvPr id="36" name="Image 3" descr="icons/kiwiharve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54396" y="6003036"/>
            <a:ext cx="338328" cy="338328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5989320" y="601675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KiwiHarvest — for redistribution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SecondCrop: live computer-vision grading, multi-fruit batch detection, and routing, tested end to end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Competitive landscape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acts after surplus already exists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17320"/>
          <a:ext cx="10881360" cy="48280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solution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focus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of supply chain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B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Foodstuffs / WhyWaste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 markdowns &amp; food rescue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Good To 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surplus meals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Hospitality &amp; 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NZ Food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Redistribute donated surplus food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Redistribution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EveryBite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Help households waste less food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Marketplace for surplus stock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Odd Bunch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Sell cosmetically imperfect produce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Love Food Hate Waste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&amp; behaviour change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Households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Wonky Box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for imperfect produce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Simplicity.kiwi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Surplus produce marketplace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Consumers/Farmers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426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rescue network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3E4F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rescue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Kai Loop / SecondCrop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support at point of harvest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0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production — the gap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36576" marB="36576" anchor="ctr">
                    <a:lnL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D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50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your own competitor gap analysis, positioned against public NZ food-waste solutions</a:t>
            </a:r>
            <a:endParaRPr lang="en-US" sz="900" dirty="0"/>
          </a:p>
        </p:txBody>
      </p:sp>
      <p:sp>
        <p:nvSpPr>
          <p:cNvPr id="4" name="Text 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model &amp; financials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SUBSCRIPTIONS, ONE PLATFORM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19656"/>
            <a:ext cx="274320" cy="274320"/>
          </a:xfrm>
          <a:prstGeom prst="ellipse">
            <a:avLst/>
          </a:prstGeom>
          <a:solidFill>
            <a:srgbClr val="1F4B3F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71907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SecondCrop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154680" y="171907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Growers &amp; pack-houses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96896"/>
            <a:ext cx="274320" cy="274320"/>
          </a:xfrm>
          <a:prstGeom prst="ellipse">
            <a:avLst/>
          </a:prstGeom>
          <a:solidFill>
            <a:srgbClr val="E3A23C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9631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ScrapSense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154680" y="249631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Hospitality venues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5120640" cy="621792"/>
          </a:xfrm>
          <a:prstGeom prst="roundRect">
            <a:avLst>
              <a:gd name="adj" fmla="val 11765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374136"/>
            <a:ext cx="274320" cy="274320"/>
          </a:xfrm>
          <a:prstGeom prst="ellipse">
            <a:avLst/>
          </a:prstGeom>
          <a:solidFill>
            <a:srgbClr val="4C7A8C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273552"/>
            <a:ext cx="1920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2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Serve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154680" y="3273552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40080" y="416052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2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separate, smaller revenue lines instead of one big bet — if one segment adopts slower, the platform doesn't live or die on it.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489204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so far: near-zero — pay-per-use AI, no bespoke hardware. Estimated pilot-integration cost with one real pack-house: roughly NZ$15–30k. (Illustrative early estimate, not yet validated with a partner.)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0" cy="5029200"/>
          </a:xfrm>
          <a:prstGeom prst="line">
            <a:avLst/>
          </a:prstGeom>
          <a:noFill/>
          <a:ln w="12700">
            <a:solidFill>
              <a:srgbClr val="C9CD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1887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CONTEXT — WHY THIS IS FUNDABLE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1645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$125M+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55080" y="2194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by Too Good To Go globally — surplus food is a real, fundable market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5080" y="2788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120M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355080" y="3337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Too Good To Go worldwide, incl. a growing NZ base since Oct 2025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35508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355080" y="4480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waste cut in trial stores using Foodstuffs' WhyWaste — proof retailers pay for exactly this kind of AI tool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55080" y="5074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5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2M kg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6355080" y="562356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produce Wonky Box alone diverts per year in NZ — proof growers participate when the channel is fair and simple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CB Insights (Too Good To Go financials), NZ Herald / RNZ / Horticulture NZ (Wonky Box), Kai Commitment (WhyWaste)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Scalability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model, any visually gradable crop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1920240"/>
            <a:ext cx="1188720" cy="1188720"/>
          </a:xfrm>
          <a:prstGeom prst="ellipse">
            <a:avLst/>
          </a:prstGeom>
          <a:solidFill>
            <a:srgbClr val="F7F8F1"/>
          </a:solidFill>
          <a:ln/>
        </p:spPr>
      </p:sp>
      <p:pic>
        <p:nvPicPr>
          <p:cNvPr id="5" name="Image 0" descr="icons/second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934" y="2074774"/>
            <a:ext cx="879653" cy="87965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Apples &amp; stone fruit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566160" y="1920240"/>
            <a:ext cx="1188720" cy="1188720"/>
          </a:xfrm>
          <a:prstGeom prst="ellipse">
            <a:avLst/>
          </a:prstGeom>
          <a:solidFill>
            <a:srgbClr val="F7F8F1"/>
          </a:solidFill>
          <a:ln/>
        </p:spPr>
      </p:sp>
      <p:pic>
        <p:nvPicPr>
          <p:cNvPr id="8" name="Image 1" descr="icons/kiwifru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0694" y="2074774"/>
            <a:ext cx="879653" cy="87965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20040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Kiwifruit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17920" y="1920240"/>
            <a:ext cx="1188720" cy="1188720"/>
          </a:xfrm>
          <a:prstGeom prst="ellipse">
            <a:avLst/>
          </a:prstGeom>
          <a:solidFill>
            <a:srgbClr val="F7F8F1"/>
          </a:solidFill>
          <a:ln/>
        </p:spPr>
      </p:sp>
      <p:pic>
        <p:nvPicPr>
          <p:cNvPr id="11" name="Image 2" descr="icons/tomat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2454" y="2074774"/>
            <a:ext cx="879653" cy="87965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85216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Tomatoes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8869680" y="1920240"/>
            <a:ext cx="1188720" cy="1188720"/>
          </a:xfrm>
          <a:prstGeom prst="ellipse">
            <a:avLst/>
          </a:prstGeom>
          <a:solidFill>
            <a:srgbClr val="F7F8F1"/>
          </a:solidFill>
          <a:ln/>
        </p:spPr>
      </p:sp>
      <p:pic>
        <p:nvPicPr>
          <p:cNvPr id="14" name="Image 3" descr="icons/citru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4214" y="2074774"/>
            <a:ext cx="879653" cy="87965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503920" y="3246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Citrus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640080" y="4114800"/>
            <a:ext cx="10881360" cy="1737360"/>
          </a:xfrm>
          <a:prstGeom prst="roundRect">
            <a:avLst>
              <a:gd name="adj" fmla="val 6316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960120" y="4343400"/>
            <a:ext cx="10241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231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 new crop is a prompt change, not a rebuild. </a:t>
            </a:r>
            <a:r>
              <a:rPr lang="en-US" sz="1450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computer-vision grading approach — photo in, grade and routing out — transfers to any produce type. That's how Kai Loop scales from one hackathon prototype to every pack-house in the country, without re-engineering per crop.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19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08026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icons/environment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245" y="1844345"/>
            <a:ext cx="608990" cy="60899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80260" y="1737360"/>
            <a:ext cx="822960" cy="822960"/>
          </a:xfrm>
          <a:prstGeom prst="ellipse">
            <a:avLst/>
          </a:prstGeom>
          <a:ln w="25400">
            <a:solidFill>
              <a:srgbClr val="1F4B3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2743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0080" y="306324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2.65 kg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CO₂-e avoided for every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kg of food rescued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343400" y="13716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78358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icons/soci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0565" y="1844345"/>
            <a:ext cx="608990" cy="60899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783580" y="1737360"/>
            <a:ext cx="822960" cy="822960"/>
          </a:xfrm>
          <a:prstGeom prst="ellipse">
            <a:avLst/>
          </a:prstGeom>
          <a:ln w="25400">
            <a:solidFill>
              <a:srgbClr val="E3A23C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343400" y="2743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4343400" y="306324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in 5</a:t>
            </a:r>
            <a:endParaRPr lang="en-US" sz="3800" dirty="0"/>
          </a:p>
        </p:txBody>
      </p:sp>
      <p:sp>
        <p:nvSpPr>
          <p:cNvPr id="16" name="Text 12"/>
          <p:cNvSpPr/>
          <p:nvPr/>
        </p:nvSpPr>
        <p:spPr>
          <a:xfrm>
            <a:off x="461772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households food-insecure —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redirected surplus reaches them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8046720" y="1371600"/>
            <a:ext cx="3429000" cy="4297680"/>
          </a:xfrm>
          <a:prstGeom prst="roundRect">
            <a:avLst>
              <a:gd name="adj" fmla="val 3200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486900" y="1737360"/>
            <a:ext cx="822960" cy="8229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icons/financi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3885" y="1844345"/>
            <a:ext cx="608990" cy="60899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9486900" y="1737360"/>
            <a:ext cx="822960" cy="822960"/>
          </a:xfrm>
          <a:prstGeom prst="ellipse">
            <a:avLst/>
          </a:prstGeom>
          <a:ln w="25400">
            <a:solidFill>
              <a:srgbClr val="4C7A8C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046720" y="2743200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4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8046720" y="306324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$8.16</a:t>
            </a:r>
            <a:endParaRPr lang="en-US" sz="3800" dirty="0"/>
          </a:p>
        </p:txBody>
      </p:sp>
      <p:sp>
        <p:nvSpPr>
          <p:cNvPr id="23" name="Text 18"/>
          <p:cNvSpPr/>
          <p:nvPr/>
        </p:nvSpPr>
        <p:spPr>
          <a:xfrm>
            <a:off x="8321040" y="3977640"/>
            <a:ext cx="2880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value returned for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$1 invested in food rescue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i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isn't just an environmental play — it's food security, and it's money back in growers' pockets.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AI Hackathon Food Waste Challenge Reference Document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are, and what's next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3383280"/>
            <a:ext cx="9966960" cy="0"/>
          </a:xfrm>
          <a:prstGeom prst="line">
            <a:avLst/>
          </a:prstGeom>
          <a:noFill/>
          <a:ln w="38100">
            <a:solidFill>
              <a:srgbClr val="C9CDB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2156" y="3273552"/>
            <a:ext cx="219456" cy="219456"/>
          </a:xfrm>
          <a:prstGeom prst="ellipse">
            <a:avLst/>
          </a:prstGeom>
          <a:solidFill>
            <a:srgbClr val="1F4B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0324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1F4B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040324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prototype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8120" y="3246121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SecondCrop grades real photos live — CV grading, multi-fruit batch detection, routing, all tested end to end.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33916" y="3273552"/>
            <a:ext cx="219456" cy="219456"/>
          </a:xfrm>
          <a:prstGeom prst="ellipse">
            <a:avLst/>
          </a:prstGeom>
          <a:solidFill>
            <a:srgbClr val="E3A2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92084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92084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pack-house pilot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09666" y="3246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real, labelled produce data with one grower partner instead of a generic model.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285676" y="3273552"/>
            <a:ext cx="219456" cy="219456"/>
          </a:xfrm>
          <a:prstGeom prst="ellipse">
            <a:avLst/>
          </a:prstGeom>
          <a:solidFill>
            <a:srgbClr val="4C7A8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43844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4C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343844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all 3 modules to parity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47248" y="3246120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ScrapSense and Second Serve reach the same live, tested state as SecondCrop.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937436" y="3273552"/>
            <a:ext cx="219456" cy="219456"/>
          </a:xfrm>
          <a:prstGeom prst="ellipse">
            <a:avLst/>
          </a:prstGeom>
          <a:solidFill>
            <a:srgbClr val="B5502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95604" y="2606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B550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995604" y="288036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KiwiHarvest integration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823960" y="3246121"/>
            <a:ext cx="2377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handoff into KiwiHarvest's existing redistribution network — no manual step.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3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8288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Kai Loop doesn't compete with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rescue apps.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E3A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sure there's less to rescue in the first place.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22960" y="4114800"/>
            <a:ext cx="56692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 w="15875">
            <a:solidFill>
              <a:srgbClr val="E3A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4114800"/>
            <a:ext cx="5212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ask: the chance to pilot SecondCrop with one real pack-house.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55778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6172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8FA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Kai Guardian ·  Kai Loop  ·  SecondCrop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 stack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piece of this is real and running today — open-source, no proprietary APIs, trained inside the hackathon window.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FastAPI as JSON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a static SPA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(Python) + SQLite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for CV heuristics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REST endpoint per module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4C7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Model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MobileNetV2 transfer learning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free on Google Colab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min to a working model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here is a mockup pretending to be real — the model actually trained, the API actually runs, the numbers came from real test photos.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SecondCrop's model: MobileNetV2 (Keras/TensorFlow) — 27k training images, ~40 min on a free Colab GPU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1426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We'd rather you hear this from us than discover it in Q&amp;A — here's exactly what's real versus what's a placeholder.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4B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/ C only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86868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SecondCrop's model is fresh/rotten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B is a placeholder for the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 middle score range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3A2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57200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ScrapSense &amp; Second Serve aren't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ML-trained yet — rule-based logic,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on real test photos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046720" y="2148840"/>
            <a:ext cx="3429000" cy="3291840"/>
          </a:xfrm>
          <a:prstGeom prst="roundRect">
            <a:avLst>
              <a:gd name="adj" fmla="val 3333"/>
            </a:avLst>
          </a:prstGeom>
          <a:solidFill>
            <a:srgbClr val="F7F8F1"/>
          </a:solidFill>
          <a:ln w="12700">
            <a:solidFill>
              <a:srgbClr val="C9CD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242316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B550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 of 24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8275320" y="3246120"/>
            <a:ext cx="2971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Multi-fruit photo detection is tuned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skip an ambiguous fruit rather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grade it wrong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715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i="1" dirty="0">
                <a:solidFill>
                  <a:srgbClr val="1231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this is hidden — the architecture already supports the real version of each piece, and the gaps are data, not design.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on this slide came from testing against real photos during this hackathon, not a hypothetical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3E4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991</Words>
  <Application>Microsoft Office PowerPoint</Application>
  <PresentationFormat>Widescreen</PresentationFormat>
  <Paragraphs>175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Nikithaa Ashwin</cp:lastModifiedBy>
  <cp:revision>3</cp:revision>
  <dcterms:created xsi:type="dcterms:W3CDTF">2026-08-08T00:02:13Z</dcterms:created>
  <dcterms:modified xsi:type="dcterms:W3CDTF">2026-08-08T00:58:38Z</dcterms:modified>
</cp:coreProperties>
</file>